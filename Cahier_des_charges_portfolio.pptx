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Helvetica 75 Bold" panose="020B0804020202020204" pitchFamily="34" charset="0"/>
      <p:bold r:id="rId15"/>
    </p:embeddedFont>
    <p:embeddedFont>
      <p:font typeface="Montserrat" panose="00000500000000000000" pitchFamily="2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13c28d163b2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g13c28d163b2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13c28d163b2_2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13c28d163b2_2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8" name="Google Shape;11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250970d574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4" name="Google Shape;124;g250970d574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0" name="Google Shape;13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f49030727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6" name="Google Shape;136;gf49030727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e de titr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contenu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de section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ux contenus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seul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ide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u avec légende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avec légende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texte vertical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vertical et texte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7133400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1799400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AFE5E571-8B83-74E8-0B5A-CAA5B8EABDF5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649913" y="6672580"/>
            <a:ext cx="920750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fr-FR" sz="800">
                <a:solidFill>
                  <a:srgbClr val="ED7D31">
                    <a:alpha val="50000"/>
                  </a:srgbClr>
                </a:solidFill>
                <a:latin typeface="Helvetica 75 Bold" panose="020B0804020202020204" pitchFamily="34" charset="0"/>
              </a:rPr>
              <a:t>Orange Restricted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fr-FR" b="1">
                <a:latin typeface="Montserrat"/>
                <a:ea typeface="Montserrat"/>
                <a:cs typeface="Montserrat"/>
                <a:sym typeface="Montserrat"/>
              </a:rPr>
              <a:t>Cahier des charges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5" name="Google Shape;85;p1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fr-FR">
                <a:latin typeface="Montserrat"/>
                <a:ea typeface="Montserrat"/>
                <a:cs typeface="Montserrat"/>
                <a:sym typeface="Montserrat"/>
              </a:rPr>
              <a:t>Élaboration d’un Portfolio 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>
            <a:spLocks noGrp="1"/>
          </p:cNvSpPr>
          <p:nvPr>
            <p:ph type="title"/>
          </p:nvPr>
        </p:nvSpPr>
        <p:spPr>
          <a:xfrm>
            <a:off x="838200" y="33700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b="1">
                <a:latin typeface="Montserrat"/>
                <a:ea typeface="Montserrat"/>
                <a:cs typeface="Montserrat"/>
                <a:sym typeface="Montserrat"/>
              </a:rPr>
              <a:t>Sommaire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1" name="Google Shape;91;p14"/>
          <p:cNvSpPr txBox="1">
            <a:spLocks noGrp="1"/>
          </p:cNvSpPr>
          <p:nvPr>
            <p:ph type="body" idx="1"/>
          </p:nvPr>
        </p:nvSpPr>
        <p:spPr>
          <a:xfrm>
            <a:off x="948275" y="1512350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6059" algn="l" rtl="0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60"/>
              <a:buFont typeface="Montserrat"/>
              <a:buAutoNum type="arabicPeriod"/>
            </a:pPr>
            <a:r>
              <a:rPr lang="fr-FR" sz="1760">
                <a:latin typeface="Montserrat"/>
                <a:ea typeface="Montserrat"/>
                <a:cs typeface="Montserrat"/>
                <a:sym typeface="Montserrat"/>
              </a:rPr>
              <a:t>Présentation du projet</a:t>
            </a:r>
            <a:endParaRPr sz="2460">
              <a:latin typeface="Montserrat"/>
              <a:ea typeface="Montserrat"/>
              <a:cs typeface="Montserrat"/>
              <a:sym typeface="Montserrat"/>
            </a:endParaRPr>
          </a:p>
          <a:p>
            <a:pPr marL="228600" lvl="0" indent="-226059" algn="l" rtl="0">
              <a:lnSpc>
                <a:spcPct val="87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760"/>
              <a:buFont typeface="Montserrat"/>
              <a:buAutoNum type="arabicPeriod"/>
            </a:pPr>
            <a:r>
              <a:rPr lang="fr-FR" sz="1760">
                <a:latin typeface="Montserrat"/>
                <a:ea typeface="Montserrat"/>
                <a:cs typeface="Montserrat"/>
                <a:sym typeface="Montserrat"/>
              </a:rPr>
              <a:t>Enjeux et objectifs</a:t>
            </a:r>
            <a:endParaRPr sz="1760">
              <a:latin typeface="Montserrat"/>
              <a:ea typeface="Montserrat"/>
              <a:cs typeface="Montserrat"/>
              <a:sym typeface="Montserrat"/>
            </a:endParaRPr>
          </a:p>
          <a:p>
            <a:pPr marL="228600" lvl="0" indent="-226059" algn="l" rtl="0">
              <a:lnSpc>
                <a:spcPct val="87000"/>
              </a:lnSpc>
              <a:spcBef>
                <a:spcPts val="1800"/>
              </a:spcBef>
              <a:spcAft>
                <a:spcPts val="0"/>
              </a:spcAft>
              <a:buSzPts val="1760"/>
              <a:buFont typeface="Montserrat"/>
              <a:buAutoNum type="arabicPeriod"/>
            </a:pPr>
            <a:r>
              <a:rPr lang="fr-FR" sz="1760">
                <a:latin typeface="Montserrat"/>
                <a:ea typeface="Montserrat"/>
                <a:cs typeface="Montserrat"/>
                <a:sym typeface="Montserrat"/>
              </a:rPr>
              <a:t>Équipe projet</a:t>
            </a:r>
            <a:endParaRPr sz="1760">
              <a:latin typeface="Montserrat"/>
              <a:ea typeface="Montserrat"/>
              <a:cs typeface="Montserrat"/>
              <a:sym typeface="Montserrat"/>
            </a:endParaRPr>
          </a:p>
          <a:p>
            <a:pPr marL="228600" lvl="0" indent="-226059" algn="l" rtl="0">
              <a:lnSpc>
                <a:spcPct val="87000"/>
              </a:lnSpc>
              <a:spcBef>
                <a:spcPts val="1800"/>
              </a:spcBef>
              <a:spcAft>
                <a:spcPts val="0"/>
              </a:spcAft>
              <a:buSzPts val="1760"/>
              <a:buFont typeface="Montserrat"/>
              <a:buAutoNum type="arabicPeriod"/>
            </a:pPr>
            <a:r>
              <a:rPr lang="fr-FR" sz="1760">
                <a:latin typeface="Montserrat"/>
                <a:ea typeface="Montserrat"/>
                <a:cs typeface="Montserrat"/>
                <a:sym typeface="Montserrat"/>
              </a:rPr>
              <a:t>Spécifications ergonomiques</a:t>
            </a:r>
            <a:endParaRPr sz="1760">
              <a:latin typeface="Montserrat"/>
              <a:ea typeface="Montserrat"/>
              <a:cs typeface="Montserrat"/>
              <a:sym typeface="Montserrat"/>
            </a:endParaRPr>
          </a:p>
          <a:p>
            <a:pPr marL="228600" lvl="0" indent="-226059" algn="l" rtl="0">
              <a:lnSpc>
                <a:spcPct val="87000"/>
              </a:lnSpc>
              <a:spcBef>
                <a:spcPts val="1800"/>
              </a:spcBef>
              <a:spcAft>
                <a:spcPts val="0"/>
              </a:spcAft>
              <a:buSzPts val="1760"/>
              <a:buFont typeface="Montserrat"/>
              <a:buAutoNum type="arabicPeriod"/>
            </a:pPr>
            <a:r>
              <a:rPr lang="fr-FR" sz="1760">
                <a:latin typeface="Montserrat"/>
                <a:ea typeface="Montserrat"/>
                <a:cs typeface="Montserrat"/>
                <a:sym typeface="Montserrat"/>
              </a:rPr>
              <a:t>Spécifications fonctionnelles</a:t>
            </a:r>
            <a:endParaRPr sz="1760">
              <a:latin typeface="Montserrat"/>
              <a:ea typeface="Montserrat"/>
              <a:cs typeface="Montserrat"/>
              <a:sym typeface="Montserrat"/>
            </a:endParaRPr>
          </a:p>
          <a:p>
            <a:pPr marL="228600" lvl="0" indent="-226059" algn="l" rtl="0">
              <a:lnSpc>
                <a:spcPct val="87000"/>
              </a:lnSpc>
              <a:spcBef>
                <a:spcPts val="1800"/>
              </a:spcBef>
              <a:spcAft>
                <a:spcPts val="0"/>
              </a:spcAft>
              <a:buSzPts val="1760"/>
              <a:buFont typeface="Montserrat"/>
              <a:buAutoNum type="arabicPeriod"/>
            </a:pPr>
            <a:r>
              <a:rPr lang="fr-FR" sz="1760">
                <a:latin typeface="Montserrat"/>
                <a:ea typeface="Montserrat"/>
                <a:cs typeface="Montserrat"/>
                <a:sym typeface="Montserrat"/>
              </a:rPr>
              <a:t>Spécifications techniques</a:t>
            </a:r>
            <a:endParaRPr sz="1760">
              <a:latin typeface="Montserrat"/>
              <a:ea typeface="Montserrat"/>
              <a:cs typeface="Montserrat"/>
              <a:sym typeface="Montserrat"/>
            </a:endParaRPr>
          </a:p>
          <a:p>
            <a:pPr marL="228600" lvl="0" indent="-226059" algn="l" rtl="0">
              <a:lnSpc>
                <a:spcPct val="87000"/>
              </a:lnSpc>
              <a:spcBef>
                <a:spcPts val="1800"/>
              </a:spcBef>
              <a:spcAft>
                <a:spcPts val="0"/>
              </a:spcAft>
              <a:buSzPts val="1760"/>
              <a:buFont typeface="Montserrat"/>
              <a:buAutoNum type="arabicPeriod"/>
            </a:pPr>
            <a:r>
              <a:rPr lang="fr-FR" sz="1760">
                <a:latin typeface="Montserrat"/>
                <a:ea typeface="Montserrat"/>
                <a:cs typeface="Montserrat"/>
                <a:sym typeface="Montserrat"/>
              </a:rPr>
              <a:t>Contraintes techniques et réglementaires</a:t>
            </a:r>
            <a:endParaRPr sz="1760">
              <a:latin typeface="Montserrat"/>
              <a:ea typeface="Montserrat"/>
              <a:cs typeface="Montserrat"/>
              <a:sym typeface="Montserrat"/>
            </a:endParaRPr>
          </a:p>
          <a:p>
            <a:pPr marL="228600" lvl="0" indent="-226059" algn="l" rtl="0">
              <a:lnSpc>
                <a:spcPct val="87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760"/>
              <a:buFont typeface="Montserrat"/>
              <a:buAutoNum type="arabicPeriod"/>
            </a:pPr>
            <a:r>
              <a:rPr lang="fr-FR" sz="1760">
                <a:latin typeface="Montserrat"/>
                <a:ea typeface="Montserrat"/>
                <a:cs typeface="Montserrat"/>
                <a:sym typeface="Montserrat"/>
              </a:rPr>
              <a:t>Qualité et performance</a:t>
            </a:r>
            <a:endParaRPr sz="1760">
              <a:latin typeface="Montserrat"/>
              <a:ea typeface="Montserrat"/>
              <a:cs typeface="Montserrat"/>
              <a:sym typeface="Montserrat"/>
            </a:endParaRPr>
          </a:p>
          <a:p>
            <a:pPr marL="228600" lvl="0" indent="-226059" algn="l" rtl="0">
              <a:lnSpc>
                <a:spcPct val="87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760"/>
              <a:buFont typeface="Montserrat"/>
              <a:buAutoNum type="arabicPeriod"/>
            </a:pPr>
            <a:r>
              <a:rPr lang="fr-FR" sz="1760">
                <a:latin typeface="Montserrat"/>
                <a:ea typeface="Montserrat"/>
                <a:cs typeface="Montserrat"/>
                <a:sym typeface="Montserrat"/>
              </a:rPr>
              <a:t>Rétroplanning</a:t>
            </a:r>
            <a:endParaRPr sz="2460">
              <a:latin typeface="Montserrat"/>
              <a:ea typeface="Montserrat"/>
              <a:cs typeface="Montserrat"/>
              <a:sym typeface="Montserrat"/>
            </a:endParaRPr>
          </a:p>
          <a:p>
            <a:pPr marL="228600" lvl="0" indent="-226059" algn="l" rtl="0">
              <a:lnSpc>
                <a:spcPct val="87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760"/>
              <a:buFont typeface="Montserrat"/>
              <a:buAutoNum type="arabicPeriod"/>
            </a:pPr>
            <a:r>
              <a:rPr lang="fr-FR" sz="1760">
                <a:latin typeface="Montserrat"/>
                <a:ea typeface="Montserrat"/>
                <a:cs typeface="Montserrat"/>
                <a:sym typeface="Montserrat"/>
              </a:rPr>
              <a:t>Devis</a:t>
            </a:r>
            <a:endParaRPr sz="246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b="1">
                <a:latin typeface="Montserrat"/>
                <a:ea typeface="Montserrat"/>
                <a:cs typeface="Montserrat"/>
                <a:sym typeface="Montserrat"/>
              </a:rPr>
              <a:t>Présentation du projet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7" name="Google Shape;97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fr-FR" sz="2000" dirty="0">
                <a:latin typeface="Montserrat"/>
              </a:rPr>
              <a:t>Dans le cadre de ma candidature chez </a:t>
            </a:r>
            <a:r>
              <a:rPr lang="fr-FR" sz="2000" dirty="0" err="1">
                <a:latin typeface="Montserrat"/>
              </a:rPr>
              <a:t>Aéroworld</a:t>
            </a:r>
            <a:r>
              <a:rPr lang="fr-FR" sz="2000" dirty="0">
                <a:latin typeface="Montserrat"/>
              </a:rPr>
              <a:t> (via Data ESN), je dois</a:t>
            </a:r>
          </a:p>
          <a:p>
            <a:pPr marL="0" lvl="0" indent="0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fr-FR" sz="2000" dirty="0">
                <a:latin typeface="Montserrat"/>
              </a:rPr>
              <a:t>constituer un portfolio professionnel démontrant mes compétences acquises</a:t>
            </a:r>
          </a:p>
          <a:p>
            <a:pPr marL="0" lvl="0" indent="0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fr-FR" sz="2000" dirty="0">
                <a:latin typeface="Montserrat"/>
              </a:rPr>
              <a:t>pendant ma formation </a:t>
            </a:r>
            <a:r>
              <a:rPr lang="fr-FR" sz="2000" dirty="0" err="1">
                <a:latin typeface="Montserrat"/>
              </a:rPr>
              <a:t>OpenClassrooms</a:t>
            </a:r>
            <a:r>
              <a:rPr lang="fr-FR" sz="2000" dirty="0">
                <a:latin typeface="Montserrat"/>
              </a:rPr>
              <a:t> et mon alternance chez Orange France.</a:t>
            </a:r>
          </a:p>
          <a:p>
            <a:pPr marL="0" lvl="0" indent="0" rtl="0">
              <a:lnSpc>
                <a:spcPct val="90000"/>
              </a:lnSpc>
              <a:buNone/>
            </a:pPr>
            <a:endParaRPr lang="fr-FR" sz="2000" dirty="0">
              <a:latin typeface="Montserrat"/>
            </a:endParaRPr>
          </a:p>
          <a:p>
            <a:pPr marL="0" lvl="0" indent="0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fr-FR" sz="2000" dirty="0">
                <a:latin typeface="Montserrat"/>
              </a:rPr>
              <a:t>Ce portfolio prend la forme d'un site en ligne (GitHub Pages) enrichi</a:t>
            </a:r>
          </a:p>
          <a:p>
            <a:pPr marL="0" lvl="0" indent="0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fr-FR" sz="2000" dirty="0">
                <a:latin typeface="Montserrat"/>
              </a:rPr>
              <a:t>de deux tableaux de bord Power BI, de livrables PDF et d'une vidéo</a:t>
            </a:r>
          </a:p>
          <a:p>
            <a:pPr marL="0" lvl="0" indent="0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fr-FR" sz="2000" dirty="0">
                <a:latin typeface="Montserrat"/>
              </a:rPr>
              <a:t>de formation.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b="1">
                <a:latin typeface="Montserrat"/>
                <a:ea typeface="Montserrat"/>
                <a:cs typeface="Montserrat"/>
                <a:sym typeface="Montserrat"/>
              </a:rPr>
              <a:t>Enjeux et objectifs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3" name="Google Shape;103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fr-FR" sz="2000" b="1" dirty="0">
                <a:latin typeface="Montserrat"/>
              </a:rPr>
              <a:t>Besoin du client (</a:t>
            </a:r>
            <a:r>
              <a:rPr lang="fr-FR" sz="2000" b="1" dirty="0" err="1">
                <a:latin typeface="Montserrat"/>
              </a:rPr>
              <a:t>Aéroworld</a:t>
            </a:r>
            <a:r>
              <a:rPr lang="fr-FR" sz="2000" b="1" dirty="0">
                <a:latin typeface="Montserrat"/>
              </a:rPr>
              <a:t>)</a:t>
            </a:r>
          </a:p>
          <a:p>
            <a:pPr marL="457200" lvl="0" indent="-457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Montserrat"/>
              <a:buChar char="•"/>
            </a:pPr>
            <a:r>
              <a:rPr lang="fr-FR" sz="2000" dirty="0">
                <a:latin typeface="Montserrat"/>
              </a:rPr>
              <a:t>Évaluer les candidats via des livrables concrets avant entretien</a:t>
            </a:r>
          </a:p>
          <a:p>
            <a:pPr marL="457200" lvl="0" indent="-457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Montserrat"/>
              <a:buChar char="•"/>
            </a:pPr>
            <a:r>
              <a:rPr lang="fr-FR" sz="2000" dirty="0">
                <a:latin typeface="Montserrat"/>
              </a:rPr>
              <a:t>Portfolio réflexif et visuel démontrant la maîtrise des compétences</a:t>
            </a:r>
          </a:p>
          <a:p>
            <a:pPr marL="0" lvl="0" indent="0" rtl="0">
              <a:lnSpc>
                <a:spcPct val="90000"/>
              </a:lnSpc>
              <a:buNone/>
            </a:pPr>
            <a:endParaRPr lang="fr-FR" sz="2000" dirty="0">
              <a:latin typeface="Montserrat"/>
            </a:endParaRPr>
          </a:p>
          <a:p>
            <a:pPr marL="0" lvl="0" indent="0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fr-FR" sz="2000" b="1" dirty="0">
                <a:latin typeface="Montserrat"/>
              </a:rPr>
              <a:t>Raisons du besoin</a:t>
            </a:r>
          </a:p>
          <a:p>
            <a:pPr marL="457200" lvl="0" indent="-457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Montserrat"/>
              <a:buChar char="•"/>
            </a:pPr>
            <a:r>
              <a:rPr lang="fr-FR" sz="2000" dirty="0">
                <a:latin typeface="Montserrat"/>
              </a:rPr>
              <a:t>Remplacer la lecture d'un simple CV par une démonstration concrète</a:t>
            </a:r>
          </a:p>
          <a:p>
            <a:pPr marL="457200" lvl="0" indent="-457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Montserrat"/>
              <a:buChar char="•"/>
            </a:pPr>
            <a:r>
              <a:rPr lang="fr-FR" sz="2000" dirty="0">
                <a:latin typeface="Montserrat"/>
              </a:rPr>
              <a:t>Vérifier la posture consultant, la rigueur et les capacités techniques</a:t>
            </a:r>
          </a:p>
          <a:p>
            <a:pPr marL="0" lvl="0" indent="0" rtl="0">
              <a:lnSpc>
                <a:spcPct val="90000"/>
              </a:lnSpc>
              <a:buNone/>
            </a:pPr>
            <a:endParaRPr lang="fr-FR" sz="2000" dirty="0">
              <a:latin typeface="Montserrat"/>
            </a:endParaRPr>
          </a:p>
          <a:p>
            <a:pPr marL="0" lvl="0" indent="0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fr-FR" sz="2000" b="1" dirty="0">
                <a:latin typeface="Montserrat"/>
              </a:rPr>
              <a:t>Objectifs SMART</a:t>
            </a:r>
          </a:p>
          <a:p>
            <a:pPr marL="457200" lvl="0" indent="-457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Montserrat"/>
              <a:buChar char="•"/>
            </a:pPr>
            <a:r>
              <a:rPr lang="fr-FR" sz="2000" dirty="0">
                <a:latin typeface="Montserrat"/>
              </a:rPr>
              <a:t>Produire 7 livrables complets avant le 16 juillet 2026</a:t>
            </a:r>
          </a:p>
          <a:p>
            <a:pPr marL="457200" lvl="0" indent="-457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Montserrat"/>
              <a:buChar char="•"/>
            </a:pPr>
            <a:r>
              <a:rPr lang="fr-FR" sz="2000" dirty="0">
                <a:latin typeface="Montserrat"/>
              </a:rPr>
              <a:t>Publier le portfolio en ligne avec tous les liens fonctionnels</a:t>
            </a:r>
          </a:p>
          <a:p>
            <a:pPr marL="457200" lvl="0" indent="-457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Montserrat"/>
              <a:buChar char="•"/>
            </a:pPr>
            <a:r>
              <a:rPr lang="fr-FR" sz="2000" dirty="0">
                <a:latin typeface="Montserrat"/>
              </a:rPr>
              <a:t>Présenter le portfolio à l'oral en 15 minutes sans support supplémentaire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b="1">
                <a:latin typeface="Montserrat"/>
                <a:ea typeface="Montserrat"/>
                <a:cs typeface="Montserrat"/>
                <a:sym typeface="Montserrat"/>
              </a:rPr>
              <a:t>Équipe projet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9" name="Google Shape;109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57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Montserrat"/>
              <a:buChar char="•"/>
            </a:pPr>
            <a:r>
              <a:rPr lang="fr-FR" sz="2000" dirty="0">
                <a:latin typeface="Montserrat"/>
              </a:rPr>
              <a:t>Thomas Sonzogni — Maître d'</a:t>
            </a:r>
            <a:r>
              <a:rPr lang="fr-FR" sz="2000" dirty="0" err="1">
                <a:latin typeface="Montserrat"/>
              </a:rPr>
              <a:t>oeuvre</a:t>
            </a:r>
            <a:r>
              <a:rPr lang="fr-FR" sz="2000" dirty="0">
                <a:latin typeface="Montserrat"/>
              </a:rPr>
              <a:t> (production de tous les livrables)</a:t>
            </a:r>
          </a:p>
          <a:p>
            <a:pPr marL="457200" lvl="0" indent="-457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Montserrat"/>
              <a:buChar char="•"/>
            </a:pPr>
            <a:r>
              <a:rPr lang="fr-FR" sz="2000" dirty="0">
                <a:latin typeface="Montserrat"/>
              </a:rPr>
              <a:t>Hayley — Manager Data ESN (validation à chaque étape)</a:t>
            </a:r>
          </a:p>
          <a:p>
            <a:pPr marL="457200" lvl="0" indent="-457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Montserrat"/>
              <a:buChar char="•"/>
            </a:pPr>
            <a:r>
              <a:rPr lang="fr-FR" sz="2000" dirty="0">
                <a:latin typeface="Montserrat"/>
              </a:rPr>
              <a:t>Suzanne — Business Manager (validation finale avant envoi client)</a:t>
            </a:r>
          </a:p>
          <a:p>
            <a:pPr marL="457200" lvl="0" indent="-457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Montserrat"/>
              <a:buChar char="•"/>
            </a:pPr>
            <a:r>
              <a:rPr lang="fr-FR" sz="2000" dirty="0" err="1">
                <a:latin typeface="Montserrat"/>
              </a:rPr>
              <a:t>Aéroworld</a:t>
            </a:r>
            <a:r>
              <a:rPr lang="fr-FR" sz="2000" dirty="0">
                <a:latin typeface="Montserrat"/>
              </a:rPr>
              <a:t> — Client évaluateur (soutenance orale</a:t>
            </a:r>
            <a:r>
              <a:rPr lang="fr-FR" dirty="0">
                <a:latin typeface="Montserrat"/>
              </a:rPr>
              <a:t>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b="1">
                <a:latin typeface="Montserrat"/>
                <a:ea typeface="Montserrat"/>
                <a:cs typeface="Montserrat"/>
                <a:sym typeface="Montserrat"/>
              </a:rPr>
              <a:t>Spécifications ergonomiques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5" name="Google Shape;115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fr-FR" sz="2000" b="1" dirty="0">
                <a:latin typeface="Montserrat"/>
              </a:rPr>
              <a:t>Principes ergonomiques</a:t>
            </a:r>
          </a:p>
          <a:p>
            <a:pPr marL="457200" lvl="0" indent="-457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Montserrat"/>
              <a:buChar char="•"/>
            </a:pPr>
            <a:r>
              <a:rPr lang="fr-FR" sz="2000" dirty="0">
                <a:latin typeface="Montserrat"/>
              </a:rPr>
              <a:t>Navigation claire : un recruteur peut parcourir le portfolio seul</a:t>
            </a:r>
          </a:p>
          <a:p>
            <a:pPr marL="457200" lvl="0" indent="-457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Montserrat"/>
              <a:buChar char="•"/>
            </a:pPr>
            <a:r>
              <a:rPr lang="fr-FR" sz="2000" dirty="0">
                <a:latin typeface="Montserrat"/>
              </a:rPr>
              <a:t>Hiérarchie visuelle : profil - projets - compétences - livrables</a:t>
            </a:r>
          </a:p>
          <a:p>
            <a:pPr marL="457200" lvl="0" indent="-457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Montserrat"/>
              <a:buChar char="•"/>
            </a:pPr>
            <a:r>
              <a:rPr lang="fr-FR" sz="2000" dirty="0">
                <a:latin typeface="Montserrat"/>
              </a:rPr>
              <a:t>Cohérence visuelle entre le site GitHub et les </a:t>
            </a:r>
            <a:r>
              <a:rPr lang="fr-FR" sz="2000" dirty="0" err="1">
                <a:latin typeface="Montserrat"/>
              </a:rPr>
              <a:t>dashboards</a:t>
            </a:r>
            <a:r>
              <a:rPr lang="fr-FR" sz="2000" dirty="0">
                <a:latin typeface="Montserrat"/>
              </a:rPr>
              <a:t> Power BI</a:t>
            </a:r>
          </a:p>
          <a:p>
            <a:pPr marL="0" lvl="0" indent="0" rtl="0">
              <a:lnSpc>
                <a:spcPct val="90000"/>
              </a:lnSpc>
              <a:buNone/>
            </a:pPr>
            <a:endParaRPr lang="fr-FR" sz="2000" dirty="0">
              <a:latin typeface="Montserrat"/>
            </a:endParaRPr>
          </a:p>
          <a:p>
            <a:pPr marL="0" lvl="0" indent="0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fr-FR" sz="2000" b="1" dirty="0">
                <a:latin typeface="Montserrat"/>
              </a:rPr>
              <a:t>UX Design</a:t>
            </a:r>
          </a:p>
          <a:p>
            <a:pPr marL="457200" lvl="0" indent="-457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Montserrat"/>
              <a:buChar char="•"/>
            </a:pPr>
            <a:r>
              <a:rPr lang="fr-FR" sz="2000" dirty="0">
                <a:latin typeface="Montserrat"/>
              </a:rPr>
              <a:t>Accès à chaque livrable en 2 clics maximum</a:t>
            </a:r>
          </a:p>
          <a:p>
            <a:pPr marL="457200" lvl="0" indent="-457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Montserrat"/>
              <a:buChar char="•"/>
            </a:pPr>
            <a:r>
              <a:rPr lang="fr-FR" sz="2000" dirty="0">
                <a:latin typeface="Montserrat"/>
              </a:rPr>
              <a:t>Tous les liens fonctionnels et testés avant la soutenance</a:t>
            </a:r>
          </a:p>
          <a:p>
            <a:pPr marL="457200" lvl="0" indent="-457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Montserrat"/>
              <a:buChar char="•"/>
            </a:pPr>
            <a:r>
              <a:rPr lang="fr-FR" sz="2000" dirty="0">
                <a:latin typeface="Montserrat"/>
              </a:rPr>
              <a:t>Compatible desktop (la soutenance se fait sur ordinateur)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b="1">
                <a:latin typeface="Montserrat"/>
                <a:ea typeface="Montserrat"/>
                <a:cs typeface="Montserrat"/>
                <a:sym typeface="Montserrat"/>
              </a:rPr>
              <a:t>Spécifications fonctionnelles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1" name="Google Shape;121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fr-FR" sz="2000" b="1" dirty="0">
                <a:latin typeface="Montserrat"/>
              </a:rPr>
              <a:t>Fonctionnalités du portfolio</a:t>
            </a:r>
          </a:p>
          <a:p>
            <a:pPr marL="457200" lvl="0" indent="-457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Montserrat"/>
              <a:buChar char="•"/>
            </a:pPr>
            <a:r>
              <a:rPr lang="fr-FR" sz="2000" dirty="0">
                <a:latin typeface="Montserrat"/>
              </a:rPr>
              <a:t>Page d'accueil avec présentation du profil et du fil rouge</a:t>
            </a:r>
          </a:p>
          <a:p>
            <a:pPr marL="457200" lvl="0" indent="-457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Montserrat"/>
              <a:buChar char="•"/>
            </a:pPr>
            <a:r>
              <a:rPr lang="fr-FR" sz="2000" dirty="0">
                <a:latin typeface="Montserrat"/>
              </a:rPr>
              <a:t>Section projets </a:t>
            </a:r>
            <a:r>
              <a:rPr lang="fr-FR" sz="2000" dirty="0" err="1">
                <a:latin typeface="Montserrat"/>
              </a:rPr>
              <a:t>OpenClassrooms</a:t>
            </a:r>
            <a:r>
              <a:rPr lang="fr-FR" sz="2000" dirty="0">
                <a:latin typeface="Montserrat"/>
              </a:rPr>
              <a:t> (13 projets) avec liens GitHub</a:t>
            </a:r>
          </a:p>
          <a:p>
            <a:pPr marL="457200" lvl="0" indent="-457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Montserrat"/>
              <a:buChar char="•"/>
            </a:pPr>
            <a:r>
              <a:rPr lang="fr-FR" sz="2000" dirty="0">
                <a:latin typeface="Montserrat"/>
              </a:rPr>
              <a:t>Section projets Orange (OPAGE en avant, captures anonymisées)</a:t>
            </a:r>
          </a:p>
          <a:p>
            <a:pPr marL="457200" lvl="0" indent="-457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Montserrat"/>
              <a:buChar char="•"/>
            </a:pPr>
            <a:r>
              <a:rPr lang="fr-FR" sz="2000" dirty="0">
                <a:latin typeface="Montserrat"/>
              </a:rPr>
              <a:t>Dashboard Power BI Profil et </a:t>
            </a:r>
            <a:r>
              <a:rPr lang="fr-FR" sz="2000" dirty="0" err="1">
                <a:latin typeface="Montserrat"/>
              </a:rPr>
              <a:t>dashboard</a:t>
            </a:r>
            <a:r>
              <a:rPr lang="fr-FR" sz="2000" dirty="0">
                <a:latin typeface="Montserrat"/>
              </a:rPr>
              <a:t> Power BI Veille</a:t>
            </a:r>
          </a:p>
          <a:p>
            <a:pPr marL="457200" lvl="0" indent="-457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Montserrat"/>
              <a:buChar char="•"/>
            </a:pPr>
            <a:r>
              <a:rPr lang="fr-FR" sz="2000" dirty="0">
                <a:latin typeface="Montserrat"/>
              </a:rPr>
              <a:t>Vidéo de formation </a:t>
            </a:r>
            <a:r>
              <a:rPr lang="fr-FR" sz="2000" dirty="0" err="1">
                <a:latin typeface="Montserrat"/>
              </a:rPr>
              <a:t>Loom</a:t>
            </a:r>
            <a:r>
              <a:rPr lang="fr-FR" sz="2000" dirty="0">
                <a:latin typeface="Montserrat"/>
              </a:rPr>
              <a:t> accessible par lien</a:t>
            </a:r>
          </a:p>
          <a:p>
            <a:pPr marL="0" lvl="0" indent="0" rtl="0">
              <a:lnSpc>
                <a:spcPct val="90000"/>
              </a:lnSpc>
              <a:buNone/>
            </a:pPr>
            <a:endParaRPr lang="fr-FR" sz="2000" dirty="0">
              <a:latin typeface="Montserrat"/>
            </a:endParaRPr>
          </a:p>
          <a:p>
            <a:pPr marL="0" lvl="0" indent="0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fr-FR" sz="2000" b="1" dirty="0">
                <a:latin typeface="Montserrat"/>
              </a:rPr>
              <a:t>RGPD</a:t>
            </a:r>
          </a:p>
          <a:p>
            <a:pPr marL="457200" lvl="0" indent="-457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Montserrat"/>
              <a:buChar char="•"/>
            </a:pPr>
            <a:r>
              <a:rPr lang="fr-FR" sz="2000" dirty="0">
                <a:latin typeface="Montserrat"/>
              </a:rPr>
              <a:t>Données des </a:t>
            </a:r>
            <a:r>
              <a:rPr lang="fr-FR" sz="2000" dirty="0" err="1">
                <a:latin typeface="Montserrat"/>
              </a:rPr>
              <a:t>dashboards</a:t>
            </a:r>
            <a:r>
              <a:rPr lang="fr-FR" sz="2000" dirty="0">
                <a:latin typeface="Montserrat"/>
              </a:rPr>
              <a:t> : publiques ou anonymisées</a:t>
            </a:r>
          </a:p>
          <a:p>
            <a:pPr marL="457200" lvl="0" indent="-457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Montserrat"/>
              <a:buChar char="•"/>
            </a:pPr>
            <a:r>
              <a:rPr lang="fr-FR" sz="2000" dirty="0">
                <a:latin typeface="Montserrat"/>
              </a:rPr>
              <a:t>Aucune donnée Orange réelle ni donnée personnelle publiée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b="1">
                <a:latin typeface="Montserrat"/>
                <a:ea typeface="Montserrat"/>
                <a:cs typeface="Montserrat"/>
                <a:sym typeface="Montserrat"/>
              </a:rPr>
              <a:t>Contraintes et spécificités techniques et réglementaires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7" name="Google Shape;127;p2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fr-FR" sz="2000" b="1" dirty="0">
                <a:latin typeface="Montserrat"/>
              </a:rPr>
              <a:t>Choix techniques</a:t>
            </a:r>
          </a:p>
          <a:p>
            <a:pPr marL="457200" lvl="0" indent="-457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Montserrat"/>
              <a:buChar char="•"/>
            </a:pPr>
            <a:r>
              <a:rPr lang="fr-FR" sz="2000" dirty="0">
                <a:latin typeface="Montserrat"/>
              </a:rPr>
              <a:t>Hébergeur : GitHub Pages — thomassonzogni.github.io</a:t>
            </a:r>
          </a:p>
          <a:p>
            <a:pPr marL="457200" lvl="0" indent="-457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Montserrat"/>
              <a:buChar char="•"/>
            </a:pPr>
            <a:r>
              <a:rPr lang="fr-FR" sz="2000" dirty="0">
                <a:latin typeface="Montserrat"/>
              </a:rPr>
              <a:t>Outil de visualisation : Power BI Desktop (version octobre 2025)</a:t>
            </a:r>
          </a:p>
          <a:p>
            <a:pPr marL="457200" lvl="0" indent="-457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Montserrat"/>
              <a:buChar char="•"/>
            </a:pPr>
            <a:r>
              <a:rPr lang="fr-FR" sz="2000" dirty="0">
                <a:latin typeface="Montserrat"/>
              </a:rPr>
              <a:t>Vidéo : </a:t>
            </a:r>
            <a:r>
              <a:rPr lang="fr-FR" sz="2000" dirty="0" err="1">
                <a:latin typeface="Montserrat"/>
              </a:rPr>
              <a:t>Loom</a:t>
            </a:r>
            <a:r>
              <a:rPr lang="fr-FR" sz="2000" dirty="0">
                <a:latin typeface="Montserrat"/>
              </a:rPr>
              <a:t> — Carte mentale : Miro</a:t>
            </a:r>
          </a:p>
          <a:p>
            <a:pPr marL="457200" lvl="0" indent="-457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Montserrat"/>
              <a:buChar char="•"/>
            </a:pPr>
            <a:r>
              <a:rPr lang="fr-FR" sz="2000" dirty="0">
                <a:latin typeface="Montserrat"/>
              </a:rPr>
              <a:t>Compatibilité : navigateurs desktop récents (Chrome, Firefox, Edge)</a:t>
            </a:r>
          </a:p>
          <a:p>
            <a:pPr marL="0" lvl="0" indent="0" rtl="0">
              <a:lnSpc>
                <a:spcPct val="90000"/>
              </a:lnSpc>
              <a:buNone/>
            </a:pPr>
            <a:endParaRPr lang="fr-FR" sz="2000" dirty="0">
              <a:latin typeface="Montserrat"/>
            </a:endParaRPr>
          </a:p>
          <a:p>
            <a:pPr marL="0" lvl="0" indent="0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fr-FR" sz="2000" b="1" dirty="0">
                <a:latin typeface="Montserrat"/>
              </a:rPr>
              <a:t>Contraintes réglementaires</a:t>
            </a:r>
          </a:p>
          <a:p>
            <a:pPr marL="457200" lvl="0" indent="-457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Montserrat"/>
              <a:buChar char="•"/>
            </a:pPr>
            <a:r>
              <a:rPr lang="fr-FR" sz="2000" dirty="0">
                <a:latin typeface="Montserrat"/>
              </a:rPr>
              <a:t>RGPD : aucune donnée personnelle publiée</a:t>
            </a:r>
          </a:p>
          <a:p>
            <a:pPr marL="457200" lvl="0" indent="-457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Montserrat"/>
              <a:buChar char="•"/>
            </a:pPr>
            <a:r>
              <a:rPr lang="fr-FR" sz="2000" dirty="0">
                <a:latin typeface="Montserrat"/>
              </a:rPr>
              <a:t>Confidentialité Orange : pas de données internes ni de captures sensibles</a:t>
            </a:r>
          </a:p>
          <a:p>
            <a:pPr marL="457200" lvl="0" indent="-457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Montserrat"/>
              <a:buChar char="•"/>
            </a:pPr>
            <a:r>
              <a:rPr lang="fr-FR" sz="2000" dirty="0">
                <a:latin typeface="Montserrat"/>
              </a:rPr>
              <a:t>Normes client : 7 livrables obligatoires selon le cahier des charges </a:t>
            </a:r>
            <a:r>
              <a:rPr lang="fr-FR" sz="2000" dirty="0" err="1">
                <a:latin typeface="Montserrat"/>
              </a:rPr>
              <a:t>Aéroworld</a:t>
            </a:r>
            <a:endParaRPr lang="fr-FR" sz="2000" dirty="0">
              <a:latin typeface="Montserra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b="1">
                <a:latin typeface="Montserrat"/>
                <a:ea typeface="Montserrat"/>
                <a:cs typeface="Montserrat"/>
                <a:sym typeface="Montserrat"/>
              </a:rPr>
              <a:t>Qualité et performance (1)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3" name="Google Shape;133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fr-FR" sz="2000" b="1" dirty="0">
                <a:latin typeface="Montserrat"/>
              </a:rPr>
              <a:t>Contraintes</a:t>
            </a:r>
          </a:p>
          <a:p>
            <a:pPr marL="457200" lvl="0" indent="-457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Montserrat"/>
              <a:buChar char="•"/>
            </a:pPr>
            <a:r>
              <a:rPr lang="fr-FR" sz="2000" dirty="0">
                <a:latin typeface="Montserrat"/>
              </a:rPr>
              <a:t>Temps : soutenance le 16 juillet 2026</a:t>
            </a:r>
          </a:p>
          <a:p>
            <a:pPr marL="457200" lvl="0" indent="-457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Montserrat"/>
              <a:buChar char="•"/>
            </a:pPr>
            <a:r>
              <a:rPr lang="fr-FR" sz="2000" dirty="0">
                <a:latin typeface="Montserrat"/>
              </a:rPr>
              <a:t>Budget : 0€ (outils gratuits uniquement)</a:t>
            </a:r>
          </a:p>
          <a:p>
            <a:pPr marL="457200" lvl="0" indent="-457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Montserrat"/>
              <a:buChar char="•"/>
            </a:pPr>
            <a:r>
              <a:rPr lang="fr-FR" sz="2000" dirty="0">
                <a:latin typeface="Montserrat"/>
              </a:rPr>
              <a:t>Règles client : 7 livrables obligatoires </a:t>
            </a:r>
            <a:r>
              <a:rPr lang="fr-FR" sz="2000" dirty="0" err="1">
                <a:latin typeface="Montserrat"/>
              </a:rPr>
              <a:t>Aéroworld</a:t>
            </a:r>
            <a:endParaRPr lang="fr-FR" sz="2000" dirty="0">
              <a:latin typeface="Montserrat"/>
            </a:endParaRPr>
          </a:p>
          <a:p>
            <a:pPr marL="457200" lvl="0" indent="-457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Montserrat"/>
              <a:buChar char="•"/>
            </a:pPr>
            <a:r>
              <a:rPr lang="fr-FR" sz="2000" dirty="0">
                <a:latin typeface="Montserrat"/>
              </a:rPr>
              <a:t>Charte : cohérence visuelle sur tous les supports</a:t>
            </a:r>
          </a:p>
          <a:p>
            <a:pPr marL="0" lvl="0" indent="0" rtl="0">
              <a:lnSpc>
                <a:spcPct val="90000"/>
              </a:lnSpc>
              <a:buNone/>
            </a:pPr>
            <a:endParaRPr lang="fr-FR" sz="2000" dirty="0">
              <a:latin typeface="Montserrat"/>
            </a:endParaRPr>
          </a:p>
          <a:p>
            <a:pPr marL="0" lvl="0" indent="0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fr-FR" sz="2000" b="1" dirty="0">
                <a:latin typeface="Montserrat"/>
              </a:rPr>
              <a:t>Modalités de recette</a:t>
            </a:r>
          </a:p>
          <a:p>
            <a:pPr marL="457200" lvl="0" indent="-457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Montserrat"/>
              <a:buChar char="•"/>
            </a:pPr>
            <a:r>
              <a:rPr lang="fr-FR" sz="2000" dirty="0">
                <a:latin typeface="Montserrat"/>
              </a:rPr>
              <a:t>J1 — Validation carte mentale + livrables organisationnels (Hayley)</a:t>
            </a:r>
          </a:p>
          <a:p>
            <a:pPr marL="457200" lvl="0" indent="-457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Montserrat"/>
              <a:buChar char="•"/>
            </a:pPr>
            <a:r>
              <a:rPr lang="fr-FR" sz="2000" dirty="0">
                <a:latin typeface="Montserrat"/>
              </a:rPr>
              <a:t>J2 — Validation </a:t>
            </a:r>
            <a:r>
              <a:rPr lang="fr-FR" sz="2000" dirty="0" err="1">
                <a:latin typeface="Montserrat"/>
              </a:rPr>
              <a:t>dashboards</a:t>
            </a:r>
            <a:r>
              <a:rPr lang="fr-FR" sz="2000" dirty="0">
                <a:latin typeface="Montserrat"/>
              </a:rPr>
              <a:t> Power BI (Hayley)</a:t>
            </a:r>
          </a:p>
          <a:p>
            <a:pPr marL="457200" lvl="0" indent="-457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Montserrat"/>
              <a:buChar char="•"/>
            </a:pPr>
            <a:r>
              <a:rPr lang="fr-FR" sz="2000" dirty="0">
                <a:latin typeface="Montserrat"/>
              </a:rPr>
              <a:t>J3 — Validation portfolio complet (Suzanne)</a:t>
            </a:r>
          </a:p>
          <a:p>
            <a:pPr marL="457200" lvl="0" indent="-457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Montserrat"/>
              <a:buChar char="•"/>
            </a:pPr>
            <a:r>
              <a:rPr lang="fr-FR" sz="2000" dirty="0">
                <a:latin typeface="Montserrat"/>
              </a:rPr>
              <a:t>J4 — Soutenance orale (</a:t>
            </a:r>
            <a:r>
              <a:rPr lang="fr-FR" sz="2000" dirty="0" err="1">
                <a:latin typeface="Montserrat"/>
              </a:rPr>
              <a:t>Aéroworld</a:t>
            </a:r>
            <a:r>
              <a:rPr lang="fr-FR" sz="2000" dirty="0">
                <a:latin typeface="Montserrat"/>
              </a:rPr>
              <a:t>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b="1">
                <a:latin typeface="Montserrat"/>
                <a:ea typeface="Montserrat"/>
                <a:cs typeface="Montserrat"/>
                <a:sym typeface="Montserrat"/>
              </a:rPr>
              <a:t>Qualité et performance (2)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9" name="Google Shape;139;p2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57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Montserrat"/>
              <a:buChar char="•"/>
            </a:pPr>
            <a:r>
              <a:rPr lang="fr-FR" sz="2000" dirty="0">
                <a:latin typeface="Montserrat"/>
              </a:rPr>
              <a:t>Coûts — Budget total : 0€ (outils gratuits uniquement)</a:t>
            </a:r>
          </a:p>
          <a:p>
            <a:pPr marL="0" lvl="0" indent="0" rtl="0">
              <a:lnSpc>
                <a:spcPct val="90000"/>
              </a:lnSpc>
              <a:buNone/>
            </a:pPr>
            <a:endParaRPr lang="fr-FR" sz="2000" dirty="0">
              <a:latin typeface="Montserrat"/>
            </a:endParaRPr>
          </a:p>
          <a:p>
            <a:pPr marL="457200" lvl="0" indent="-457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Montserrat"/>
              <a:buChar char="•"/>
            </a:pPr>
            <a:r>
              <a:rPr lang="fr-FR" sz="2000" dirty="0">
                <a:latin typeface="Montserrat"/>
              </a:rPr>
              <a:t>Délais — 7 livrables produits et validés avant le 14 juillet 2026</a:t>
            </a:r>
          </a:p>
          <a:p>
            <a:pPr marL="0" lvl="0" indent="0" rtl="0">
              <a:lnSpc>
                <a:spcPct val="90000"/>
              </a:lnSpc>
              <a:buNone/>
            </a:pPr>
            <a:endParaRPr lang="fr-FR" sz="2000" dirty="0">
              <a:latin typeface="Montserrat"/>
            </a:endParaRPr>
          </a:p>
          <a:p>
            <a:pPr marL="457200" lvl="0" indent="-457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Montserrat"/>
              <a:buChar char="•"/>
            </a:pPr>
            <a:r>
              <a:rPr lang="fr-FR" sz="2000" dirty="0">
                <a:latin typeface="Montserrat"/>
              </a:rPr>
              <a:t>Qualité — 100% des liens fonctionnels le jour de la soutenance</a:t>
            </a:r>
          </a:p>
          <a:p>
            <a:pPr marL="0" lvl="0" indent="0" rtl="0">
              <a:lnSpc>
                <a:spcPct val="90000"/>
              </a:lnSpc>
              <a:buNone/>
            </a:pPr>
            <a:endParaRPr lang="fr-FR" sz="2000" dirty="0">
              <a:latin typeface="Montserrat"/>
            </a:endParaRPr>
          </a:p>
          <a:p>
            <a:pPr marL="457200" lvl="0" indent="-457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Montserrat"/>
              <a:buChar char="•"/>
            </a:pPr>
            <a:r>
              <a:rPr lang="fr-FR" sz="2000" dirty="0">
                <a:latin typeface="Montserrat"/>
              </a:rPr>
              <a:t>Efficacité — 3 jalons validés par Hayley et Suzanne avant la soutenance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b="1">
                <a:latin typeface="Montserrat"/>
                <a:ea typeface="Montserrat"/>
                <a:cs typeface="Montserrat"/>
                <a:sym typeface="Montserrat"/>
              </a:rPr>
              <a:t>Rétroplanning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5" name="Google Shape;145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57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Montserrat"/>
              <a:buChar char="•"/>
            </a:pPr>
            <a:r>
              <a:rPr lang="fr-FR" sz="2000" dirty="0">
                <a:latin typeface="Montserrat"/>
              </a:rPr>
              <a:t>S1 (maintenant) — Carte mentale, analyse besoins, cahier des charges, Gantt</a:t>
            </a:r>
          </a:p>
          <a:p>
            <a:pPr marL="457200" lvl="0" indent="-457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Montserrat"/>
              <a:buChar char="•"/>
            </a:pPr>
            <a:r>
              <a:rPr lang="fr-FR" sz="2000" dirty="0">
                <a:latin typeface="Montserrat"/>
              </a:rPr>
              <a:t>S2-S3 (mi-juin) — </a:t>
            </a:r>
            <a:r>
              <a:rPr lang="fr-FR" sz="2000" dirty="0" err="1">
                <a:latin typeface="Montserrat"/>
              </a:rPr>
              <a:t>Dashboards</a:t>
            </a:r>
            <a:r>
              <a:rPr lang="fr-FR" sz="2000" dirty="0">
                <a:latin typeface="Montserrat"/>
              </a:rPr>
              <a:t> Power BI Profil + Veille</a:t>
            </a:r>
          </a:p>
          <a:p>
            <a:pPr marL="457200" lvl="0" indent="-457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Montserrat"/>
              <a:buChar char="•"/>
            </a:pPr>
            <a:r>
              <a:rPr lang="fr-FR" sz="2000" dirty="0">
                <a:latin typeface="Montserrat"/>
              </a:rPr>
              <a:t>S4 (fin juin) — Vidéo </a:t>
            </a:r>
            <a:r>
              <a:rPr lang="fr-FR" sz="2000" dirty="0" err="1">
                <a:latin typeface="Montserrat"/>
              </a:rPr>
              <a:t>Loom</a:t>
            </a:r>
            <a:r>
              <a:rPr lang="fr-FR" sz="2000" dirty="0">
                <a:latin typeface="Montserrat"/>
              </a:rPr>
              <a:t> + procédure de documentation</a:t>
            </a:r>
          </a:p>
          <a:p>
            <a:pPr marL="457200" lvl="0" indent="-457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Montserrat"/>
              <a:buChar char="•"/>
            </a:pPr>
            <a:r>
              <a:rPr lang="fr-FR" sz="2000" dirty="0">
                <a:latin typeface="Montserrat"/>
              </a:rPr>
              <a:t>S5 (début juillet) — Intégration GitHub, ajout projets </a:t>
            </a:r>
            <a:r>
              <a:rPr lang="fr-FR" sz="2000" dirty="0" err="1">
                <a:latin typeface="Montserrat"/>
              </a:rPr>
              <a:t>OpenClassrooms</a:t>
            </a:r>
            <a:endParaRPr lang="fr-FR" sz="2000" dirty="0">
              <a:latin typeface="Montserrat"/>
            </a:endParaRPr>
          </a:p>
          <a:p>
            <a:pPr marL="457200" lvl="0" indent="-457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Montserrat"/>
              <a:buChar char="•"/>
            </a:pPr>
            <a:r>
              <a:rPr lang="fr-FR" sz="2000" dirty="0">
                <a:latin typeface="Montserrat"/>
              </a:rPr>
              <a:t>S6 (14-16 juillet) — Finalisation, relecture, soutenance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b="1">
                <a:latin typeface="Montserrat"/>
                <a:ea typeface="Montserrat"/>
                <a:cs typeface="Montserrat"/>
                <a:sym typeface="Montserrat"/>
              </a:rPr>
              <a:t>Devis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1" name="Google Shape;151;p2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57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Montserrat"/>
              <a:buChar char="•"/>
            </a:pPr>
            <a:r>
              <a:rPr lang="fr-FR" sz="2000" dirty="0">
                <a:latin typeface="Montserrat"/>
              </a:rPr>
              <a:t>Thomas Sonzogni : ~70h de travail (cadre formation, 0€)</a:t>
            </a:r>
          </a:p>
          <a:p>
            <a:pPr marL="457200" lvl="0" indent="-457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Montserrat"/>
              <a:buChar char="•"/>
            </a:pPr>
            <a:r>
              <a:rPr lang="fr-FR" sz="2000" dirty="0">
                <a:latin typeface="Montserrat"/>
              </a:rPr>
              <a:t>Hébergement — GitHub Pages : 0€</a:t>
            </a:r>
          </a:p>
          <a:p>
            <a:pPr marL="457200" lvl="0" indent="-457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Montserrat"/>
              <a:buChar char="•"/>
            </a:pPr>
            <a:r>
              <a:rPr lang="fr-FR" sz="2000" dirty="0">
                <a:latin typeface="Montserrat"/>
              </a:rPr>
              <a:t>Outils — Power BI Desktop, </a:t>
            </a:r>
            <a:r>
              <a:rPr lang="fr-FR" sz="2000" dirty="0" err="1">
                <a:latin typeface="Montserrat"/>
              </a:rPr>
              <a:t>Loom</a:t>
            </a:r>
            <a:r>
              <a:rPr lang="fr-FR" sz="2000" dirty="0">
                <a:latin typeface="Montserrat"/>
              </a:rPr>
              <a:t>, Miro : 0€ (versions gratuites)</a:t>
            </a:r>
          </a:p>
          <a:p>
            <a:pPr marL="0" lvl="0" indent="0" rtl="0">
              <a:lnSpc>
                <a:spcPct val="90000"/>
              </a:lnSpc>
              <a:buNone/>
            </a:pPr>
            <a:endParaRPr lang="fr-FR" sz="2000" dirty="0">
              <a:latin typeface="Montserrat"/>
            </a:endParaRPr>
          </a:p>
          <a:p>
            <a:pPr marL="0" lvl="0" indent="0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fr-FR" sz="2000" b="1" dirty="0">
                <a:latin typeface="Montserrat"/>
              </a:rPr>
              <a:t>Prix final : 0€</a:t>
            </a:r>
          </a:p>
          <a:p>
            <a:pPr marL="0" lvl="0" indent="0" rtl="0">
              <a:lnSpc>
                <a:spcPct val="90000"/>
              </a:lnSpc>
              <a:buNone/>
            </a:pPr>
            <a:endParaRPr lang="fr-FR" sz="2000" dirty="0">
              <a:latin typeface="Montserrat"/>
            </a:endParaRPr>
          </a:p>
          <a:p>
            <a:pPr marL="0" lvl="0" indent="0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fr-FR" sz="2000" dirty="0">
                <a:latin typeface="Montserrat"/>
              </a:rPr>
              <a:t>Projet réalisé dans le cadre d'une formation en alternance.</a:t>
            </a:r>
          </a:p>
          <a:p>
            <a:pPr marL="0" lvl="0" indent="0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fr-FR" sz="2000" dirty="0">
                <a:latin typeface="Montserrat"/>
              </a:rPr>
              <a:t>Tous les outils utilisés sont disponibles en version gratuite.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e6c818a6-e1a0-4a6e-a969-20d857c5dc62}" enabled="1" method="Standard" siteId="{90c7a20a-f34b-40bf-bc48-b9253b6f5d20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694</Words>
  <Application>Microsoft Office PowerPoint</Application>
  <PresentationFormat>Grand écran</PresentationFormat>
  <Paragraphs>106</Paragraphs>
  <Slides>12</Slides>
  <Notes>12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7" baseType="lpstr">
      <vt:lpstr>Calibri</vt:lpstr>
      <vt:lpstr>Arial</vt:lpstr>
      <vt:lpstr>Montserrat</vt:lpstr>
      <vt:lpstr>Helvetica 75 Bold</vt:lpstr>
      <vt:lpstr>Thème Office</vt:lpstr>
      <vt:lpstr>Cahier des charges</vt:lpstr>
      <vt:lpstr>Sommaire</vt:lpstr>
      <vt:lpstr>Présentation du projet</vt:lpstr>
      <vt:lpstr>Enjeux et objectifs</vt:lpstr>
      <vt:lpstr>Équipe projet</vt:lpstr>
      <vt:lpstr>Spécifications ergonomiques</vt:lpstr>
      <vt:lpstr>Spécifications fonctionnelles</vt:lpstr>
      <vt:lpstr>Contraintes et spécificités techniques et réglementaires</vt:lpstr>
      <vt:lpstr>Qualité et performance (1)</vt:lpstr>
      <vt:lpstr>Qualité et performance (2)</vt:lpstr>
      <vt:lpstr>Rétroplanning</vt:lpstr>
      <vt:lpstr>Devis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SONZOGNI Thomas DTOF/DINT</dc:creator>
  <cp:lastModifiedBy>SONZOGNI Thomas DTOF/DINT</cp:lastModifiedBy>
  <cp:revision>1</cp:revision>
  <dcterms:modified xsi:type="dcterms:W3CDTF">2026-06-17T14:20:57Z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Thème Office:3</vt:lpwstr>
  </property>
  <property fmtid="{D5CDD505-2E9C-101B-9397-08002B2CF9AE}" pid="3" name="ClassificationContentMarkingFooterText">
    <vt:lpwstr>Orange Restricted</vt:lpwstr>
  </property>
</Properties>
</file>